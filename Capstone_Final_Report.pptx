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967148-F678-4103-954D-4669360DD1CE}" v="5" dt="2026-08-02T02:01:15.3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00" d="100"/>
          <a:sy n="100" d="100"/>
        </p:scale>
        <p:origin x="1914" y="1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shra, Ritu, VBAVACO" userId="a6fc6115-4e9e-4fd4-a243-9de3bfa497a7" providerId="ADAL" clId="{D067B7CB-2F21-4A85-B021-4DE0E27BFE6F}"/>
    <pc:docChg chg="custSel modSld">
      <pc:chgData name="Mishra, Ritu, VBAVACO" userId="a6fc6115-4e9e-4fd4-a243-9de3bfa497a7" providerId="ADAL" clId="{D067B7CB-2F21-4A85-B021-4DE0E27BFE6F}" dt="2026-08-02T02:03:41.861" v="39" actId="27636"/>
      <pc:docMkLst>
        <pc:docMk/>
      </pc:docMkLst>
      <pc:sldChg chg="modSp mod">
        <pc:chgData name="Mishra, Ritu, VBAVACO" userId="a6fc6115-4e9e-4fd4-a243-9de3bfa497a7" providerId="ADAL" clId="{D067B7CB-2F21-4A85-B021-4DE0E27BFE6F}" dt="2026-08-02T02:00:37.081" v="1" actId="255"/>
        <pc:sldMkLst>
          <pc:docMk/>
          <pc:sldMk cId="0" sldId="256"/>
        </pc:sldMkLst>
        <pc:spChg chg="mod">
          <ac:chgData name="Mishra, Ritu, VBAVACO" userId="a6fc6115-4e9e-4fd4-a243-9de3bfa497a7" providerId="ADAL" clId="{D067B7CB-2F21-4A85-B021-4DE0E27BFE6F}" dt="2026-08-02T02:00:37.081" v="1" actId="255"/>
          <ac:spMkLst>
            <pc:docMk/>
            <pc:sldMk cId="0" sldId="256"/>
            <ac:spMk id="3" creationId="{00000000-0000-0000-0000-000000000000}"/>
          </ac:spMkLst>
        </pc:spChg>
      </pc:sldChg>
      <pc:sldChg chg="modSp mod setBg">
        <pc:chgData name="Mishra, Ritu, VBAVACO" userId="a6fc6115-4e9e-4fd4-a243-9de3bfa497a7" providerId="ADAL" clId="{D067B7CB-2F21-4A85-B021-4DE0E27BFE6F}" dt="2026-08-02T02:01:56.128" v="23" actId="27636"/>
        <pc:sldMkLst>
          <pc:docMk/>
          <pc:sldMk cId="0" sldId="257"/>
        </pc:sldMkLst>
        <pc:spChg chg="mod">
          <ac:chgData name="Mishra, Ritu, VBAVACO" userId="a6fc6115-4e9e-4fd4-a243-9de3bfa497a7" providerId="ADAL" clId="{D067B7CB-2F21-4A85-B021-4DE0E27BFE6F}" dt="2026-08-02T02:00:54.323" v="4" actId="27636"/>
          <ac:spMkLst>
            <pc:docMk/>
            <pc:sldMk cId="0" sldId="257"/>
            <ac:spMk id="2" creationId="{00000000-0000-0000-0000-000000000000}"/>
          </ac:spMkLst>
        </pc:spChg>
        <pc:spChg chg="mod">
          <ac:chgData name="Mishra, Ritu, VBAVACO" userId="a6fc6115-4e9e-4fd4-a243-9de3bfa497a7" providerId="ADAL" clId="{D067B7CB-2F21-4A85-B021-4DE0E27BFE6F}" dt="2026-08-02T02:01:56.128" v="23" actId="27636"/>
          <ac:spMkLst>
            <pc:docMk/>
            <pc:sldMk cId="0" sldId="257"/>
            <ac:spMk id="3" creationId="{00000000-0000-0000-0000-000000000000}"/>
          </ac:spMkLst>
        </pc:spChg>
      </pc:sldChg>
      <pc:sldChg chg="modSp mod setBg">
        <pc:chgData name="Mishra, Ritu, VBAVACO" userId="a6fc6115-4e9e-4fd4-a243-9de3bfa497a7" providerId="ADAL" clId="{D067B7CB-2F21-4A85-B021-4DE0E27BFE6F}" dt="2026-08-02T02:00:57.603" v="16"/>
        <pc:sldMkLst>
          <pc:docMk/>
          <pc:sldMk cId="0" sldId="258"/>
        </pc:sldMkLst>
        <pc:spChg chg="mod">
          <ac:chgData name="Mishra, Ritu, VBAVACO" userId="a6fc6115-4e9e-4fd4-a243-9de3bfa497a7" providerId="ADAL" clId="{D067B7CB-2F21-4A85-B021-4DE0E27BFE6F}" dt="2026-08-02T02:00:57.603" v="16"/>
          <ac:spMkLst>
            <pc:docMk/>
            <pc:sldMk cId="0" sldId="258"/>
            <ac:spMk id="2" creationId="{00000000-0000-0000-0000-000000000000}"/>
          </ac:spMkLst>
        </pc:spChg>
        <pc:spChg chg="mod">
          <ac:chgData name="Mishra, Ritu, VBAVACO" userId="a6fc6115-4e9e-4fd4-a243-9de3bfa497a7" providerId="ADAL" clId="{D067B7CB-2F21-4A85-B021-4DE0E27BFE6F}" dt="2026-08-02T02:00:57.603" v="16"/>
          <ac:spMkLst>
            <pc:docMk/>
            <pc:sldMk cId="0" sldId="258"/>
            <ac:spMk id="3" creationId="{00000000-0000-0000-0000-000000000000}"/>
          </ac:spMkLst>
        </pc:spChg>
      </pc:sldChg>
      <pc:sldChg chg="modSp mod setBg">
        <pc:chgData name="Mishra, Ritu, VBAVACO" userId="a6fc6115-4e9e-4fd4-a243-9de3bfa497a7" providerId="ADAL" clId="{D067B7CB-2F21-4A85-B021-4DE0E27BFE6F}" dt="2026-08-02T02:01:36.195" v="20" actId="255"/>
        <pc:sldMkLst>
          <pc:docMk/>
          <pc:sldMk cId="0" sldId="259"/>
        </pc:sldMkLst>
        <pc:spChg chg="mod">
          <ac:chgData name="Mishra, Ritu, VBAVACO" userId="a6fc6115-4e9e-4fd4-a243-9de3bfa497a7" providerId="ADAL" clId="{D067B7CB-2F21-4A85-B021-4DE0E27BFE6F}" dt="2026-08-02T02:01:15.333" v="19"/>
          <ac:spMkLst>
            <pc:docMk/>
            <pc:sldMk cId="0" sldId="259"/>
            <ac:spMk id="2" creationId="{00000000-0000-0000-0000-000000000000}"/>
          </ac:spMkLst>
        </pc:spChg>
        <pc:spChg chg="mod">
          <ac:chgData name="Mishra, Ritu, VBAVACO" userId="a6fc6115-4e9e-4fd4-a243-9de3bfa497a7" providerId="ADAL" clId="{D067B7CB-2F21-4A85-B021-4DE0E27BFE6F}" dt="2026-08-02T02:01:36.195" v="20" actId="255"/>
          <ac:spMkLst>
            <pc:docMk/>
            <pc:sldMk cId="0" sldId="259"/>
            <ac:spMk id="3" creationId="{00000000-0000-0000-0000-000000000000}"/>
          </ac:spMkLst>
        </pc:spChg>
      </pc:sldChg>
      <pc:sldChg chg="modSp mod">
        <pc:chgData name="Mishra, Ritu, VBAVACO" userId="a6fc6115-4e9e-4fd4-a243-9de3bfa497a7" providerId="ADAL" clId="{D067B7CB-2F21-4A85-B021-4DE0E27BFE6F}" dt="2026-08-02T02:00:54.434" v="6" actId="27636"/>
        <pc:sldMkLst>
          <pc:docMk/>
          <pc:sldMk cId="0" sldId="260"/>
        </pc:sldMkLst>
        <pc:spChg chg="mod">
          <ac:chgData name="Mishra, Ritu, VBAVACO" userId="a6fc6115-4e9e-4fd4-a243-9de3bfa497a7" providerId="ADAL" clId="{D067B7CB-2F21-4A85-B021-4DE0E27BFE6F}" dt="2026-08-02T02:00:54.434" v="6" actId="27636"/>
          <ac:spMkLst>
            <pc:docMk/>
            <pc:sldMk cId="0" sldId="260"/>
            <ac:spMk id="3" creationId="{00000000-0000-0000-0000-000000000000}"/>
          </ac:spMkLst>
        </pc:spChg>
      </pc:sldChg>
      <pc:sldChg chg="modSp mod">
        <pc:chgData name="Mishra, Ritu, VBAVACO" userId="a6fc6115-4e9e-4fd4-a243-9de3bfa497a7" providerId="ADAL" clId="{D067B7CB-2F21-4A85-B021-4DE0E27BFE6F}" dt="2026-08-02T02:02:16.303" v="25" actId="27636"/>
        <pc:sldMkLst>
          <pc:docMk/>
          <pc:sldMk cId="0" sldId="261"/>
        </pc:sldMkLst>
        <pc:spChg chg="mod">
          <ac:chgData name="Mishra, Ritu, VBAVACO" userId="a6fc6115-4e9e-4fd4-a243-9de3bfa497a7" providerId="ADAL" clId="{D067B7CB-2F21-4A85-B021-4DE0E27BFE6F}" dt="2026-08-02T02:02:16.303" v="25" actId="27636"/>
          <ac:spMkLst>
            <pc:docMk/>
            <pc:sldMk cId="0" sldId="261"/>
            <ac:spMk id="3" creationId="{00000000-0000-0000-0000-000000000000}"/>
          </ac:spMkLst>
        </pc:spChg>
      </pc:sldChg>
      <pc:sldChg chg="modSp mod">
        <pc:chgData name="Mishra, Ritu, VBAVACO" userId="a6fc6115-4e9e-4fd4-a243-9de3bfa497a7" providerId="ADAL" clId="{D067B7CB-2F21-4A85-B021-4DE0E27BFE6F}" dt="2026-08-02T02:02:23.110" v="26" actId="108"/>
        <pc:sldMkLst>
          <pc:docMk/>
          <pc:sldMk cId="0" sldId="262"/>
        </pc:sldMkLst>
        <pc:spChg chg="mod">
          <ac:chgData name="Mishra, Ritu, VBAVACO" userId="a6fc6115-4e9e-4fd4-a243-9de3bfa497a7" providerId="ADAL" clId="{D067B7CB-2F21-4A85-B021-4DE0E27BFE6F}" dt="2026-08-02T02:02:23.110" v="26" actId="108"/>
          <ac:spMkLst>
            <pc:docMk/>
            <pc:sldMk cId="0" sldId="262"/>
            <ac:spMk id="3" creationId="{00000000-0000-0000-0000-000000000000}"/>
          </ac:spMkLst>
        </pc:spChg>
      </pc:sldChg>
      <pc:sldChg chg="modSp mod">
        <pc:chgData name="Mishra, Ritu, VBAVACO" userId="a6fc6115-4e9e-4fd4-a243-9de3bfa497a7" providerId="ADAL" clId="{D067B7CB-2F21-4A85-B021-4DE0E27BFE6F}" dt="2026-08-02T02:02:44.184" v="30" actId="27636"/>
        <pc:sldMkLst>
          <pc:docMk/>
          <pc:sldMk cId="0" sldId="263"/>
        </pc:sldMkLst>
        <pc:spChg chg="mod">
          <ac:chgData name="Mishra, Ritu, VBAVACO" userId="a6fc6115-4e9e-4fd4-a243-9de3bfa497a7" providerId="ADAL" clId="{D067B7CB-2F21-4A85-B021-4DE0E27BFE6F}" dt="2026-08-02T02:02:44.184" v="30" actId="27636"/>
          <ac:spMkLst>
            <pc:docMk/>
            <pc:sldMk cId="0" sldId="263"/>
            <ac:spMk id="3" creationId="{00000000-0000-0000-0000-000000000000}"/>
          </ac:spMkLst>
        </pc:spChg>
      </pc:sldChg>
      <pc:sldChg chg="modSp mod">
        <pc:chgData name="Mishra, Ritu, VBAVACO" userId="a6fc6115-4e9e-4fd4-a243-9de3bfa497a7" providerId="ADAL" clId="{D067B7CB-2F21-4A85-B021-4DE0E27BFE6F}" dt="2026-08-02T02:02:47.852" v="31" actId="108"/>
        <pc:sldMkLst>
          <pc:docMk/>
          <pc:sldMk cId="0" sldId="264"/>
        </pc:sldMkLst>
        <pc:spChg chg="mod">
          <ac:chgData name="Mishra, Ritu, VBAVACO" userId="a6fc6115-4e9e-4fd4-a243-9de3bfa497a7" providerId="ADAL" clId="{D067B7CB-2F21-4A85-B021-4DE0E27BFE6F}" dt="2026-08-02T02:02:47.852" v="31" actId="108"/>
          <ac:spMkLst>
            <pc:docMk/>
            <pc:sldMk cId="0" sldId="264"/>
            <ac:spMk id="3" creationId="{00000000-0000-0000-0000-000000000000}"/>
          </ac:spMkLst>
        </pc:spChg>
      </pc:sldChg>
      <pc:sldChg chg="modSp mod">
        <pc:chgData name="Mishra, Ritu, VBAVACO" userId="a6fc6115-4e9e-4fd4-a243-9de3bfa497a7" providerId="ADAL" clId="{D067B7CB-2F21-4A85-B021-4DE0E27BFE6F}" dt="2026-08-02T02:02:53.150" v="32" actId="108"/>
        <pc:sldMkLst>
          <pc:docMk/>
          <pc:sldMk cId="0" sldId="265"/>
        </pc:sldMkLst>
        <pc:spChg chg="mod">
          <ac:chgData name="Mishra, Ritu, VBAVACO" userId="a6fc6115-4e9e-4fd4-a243-9de3bfa497a7" providerId="ADAL" clId="{D067B7CB-2F21-4A85-B021-4DE0E27BFE6F}" dt="2026-08-02T02:02:53.150" v="32" actId="108"/>
          <ac:spMkLst>
            <pc:docMk/>
            <pc:sldMk cId="0" sldId="265"/>
            <ac:spMk id="3" creationId="{00000000-0000-0000-0000-000000000000}"/>
          </ac:spMkLst>
        </pc:spChg>
      </pc:sldChg>
      <pc:sldChg chg="modSp mod">
        <pc:chgData name="Mishra, Ritu, VBAVACO" userId="a6fc6115-4e9e-4fd4-a243-9de3bfa497a7" providerId="ADAL" clId="{D067B7CB-2F21-4A85-B021-4DE0E27BFE6F}" dt="2026-08-02T02:03:05.297" v="34" actId="255"/>
        <pc:sldMkLst>
          <pc:docMk/>
          <pc:sldMk cId="0" sldId="266"/>
        </pc:sldMkLst>
        <pc:spChg chg="mod">
          <ac:chgData name="Mishra, Ritu, VBAVACO" userId="a6fc6115-4e9e-4fd4-a243-9de3bfa497a7" providerId="ADAL" clId="{D067B7CB-2F21-4A85-B021-4DE0E27BFE6F}" dt="2026-08-02T02:03:05.297" v="34" actId="255"/>
          <ac:spMkLst>
            <pc:docMk/>
            <pc:sldMk cId="0" sldId="266"/>
            <ac:spMk id="3" creationId="{00000000-0000-0000-0000-000000000000}"/>
          </ac:spMkLst>
        </pc:spChg>
      </pc:sldChg>
      <pc:sldChg chg="modSp mod">
        <pc:chgData name="Mishra, Ritu, VBAVACO" userId="a6fc6115-4e9e-4fd4-a243-9de3bfa497a7" providerId="ADAL" clId="{D067B7CB-2F21-4A85-B021-4DE0E27BFE6F}" dt="2026-08-02T02:03:21.188" v="35" actId="255"/>
        <pc:sldMkLst>
          <pc:docMk/>
          <pc:sldMk cId="0" sldId="267"/>
        </pc:sldMkLst>
        <pc:spChg chg="mod">
          <ac:chgData name="Mishra, Ritu, VBAVACO" userId="a6fc6115-4e9e-4fd4-a243-9de3bfa497a7" providerId="ADAL" clId="{D067B7CB-2F21-4A85-B021-4DE0E27BFE6F}" dt="2026-08-02T02:03:21.188" v="35" actId="255"/>
          <ac:spMkLst>
            <pc:docMk/>
            <pc:sldMk cId="0" sldId="267"/>
            <ac:spMk id="3" creationId="{00000000-0000-0000-0000-000000000000}"/>
          </ac:spMkLst>
        </pc:spChg>
      </pc:sldChg>
      <pc:sldChg chg="modSp mod">
        <pc:chgData name="Mishra, Ritu, VBAVACO" userId="a6fc6115-4e9e-4fd4-a243-9de3bfa497a7" providerId="ADAL" clId="{D067B7CB-2F21-4A85-B021-4DE0E27BFE6F}" dt="2026-08-02T02:03:29.295" v="37" actId="27636"/>
        <pc:sldMkLst>
          <pc:docMk/>
          <pc:sldMk cId="0" sldId="268"/>
        </pc:sldMkLst>
        <pc:spChg chg="mod">
          <ac:chgData name="Mishra, Ritu, VBAVACO" userId="a6fc6115-4e9e-4fd4-a243-9de3bfa497a7" providerId="ADAL" clId="{D067B7CB-2F21-4A85-B021-4DE0E27BFE6F}" dt="2026-08-02T02:03:29.295" v="37" actId="27636"/>
          <ac:spMkLst>
            <pc:docMk/>
            <pc:sldMk cId="0" sldId="268"/>
            <ac:spMk id="3" creationId="{00000000-0000-0000-0000-000000000000}"/>
          </ac:spMkLst>
        </pc:spChg>
      </pc:sldChg>
      <pc:sldChg chg="modSp mod">
        <pc:chgData name="Mishra, Ritu, VBAVACO" userId="a6fc6115-4e9e-4fd4-a243-9de3bfa497a7" providerId="ADAL" clId="{D067B7CB-2F21-4A85-B021-4DE0E27BFE6F}" dt="2026-08-02T02:03:41.861" v="39" actId="27636"/>
        <pc:sldMkLst>
          <pc:docMk/>
          <pc:sldMk cId="0" sldId="269"/>
        </pc:sldMkLst>
        <pc:spChg chg="mod">
          <ac:chgData name="Mishra, Ritu, VBAVACO" userId="a6fc6115-4e9e-4fd4-a243-9de3bfa497a7" providerId="ADAL" clId="{D067B7CB-2F21-4A85-B021-4DE0E27BFE6F}" dt="2026-08-02T02:03:41.861" v="39" actId="27636"/>
          <ac:spMkLst>
            <pc:docMk/>
            <pc:sldMk cId="0" sldId="269"/>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08/01/2026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08/01/2026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08/01/2026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08/01/2026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08/01/2026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08/01/2026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08/01/2026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08/01/2026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08/01/2026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08/01/2026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08/01/2026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08/01/2026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Executive Summary</a:t>
            </a:r>
          </a:p>
        </p:txBody>
      </p:sp>
      <p:sp>
        <p:nvSpPr>
          <p:cNvPr id="3" name="Content Placeholder 2"/>
          <p:cNvSpPr>
            <a:spLocks noGrp="1"/>
          </p:cNvSpPr>
          <p:nvPr>
            <p:ph idx="1"/>
          </p:nvPr>
        </p:nvSpPr>
        <p:spPr/>
        <p:txBody>
          <a:bodyPr>
            <a:normAutofit/>
          </a:bodyPr>
          <a:lstStyle/>
          <a:p>
            <a:endParaRPr sz="1200" dirty="0"/>
          </a:p>
          <a:p>
            <a:r>
              <a:rPr sz="1200" dirty="0"/>
              <a:t>Customer churn — subscribers cancelling their service — is one of the most direct threats to recurring revenue for a subscription telecom business. This project builds an end-to-end, reproducible data science pipeline that predicts which customers are likely to churn and explains why, so that a retention team can intervene before the customer leaves rather than after.</a:t>
            </a:r>
          </a:p>
          <a:p>
            <a:r>
              <a:rPr sz="1200" dirty="0"/>
              <a:t>Working from a customer-level account dataset (demographics, subscribed services, contract and billing details), we cleaned the data, explored churn patterns, engineered a small set of business-relevant features, and compared three classification models. A regularized Logistic Regression model was selected as the final model based on cross-validated performance, then tuned and evaluated on a held-out test set.</a:t>
            </a:r>
          </a:p>
          <a:p>
            <a:r>
              <a:rPr sz="1200" dirty="0"/>
              <a:t>The final model achieves a test-set ROC-AUC of 0.729 and correctly identifies 66% of customers who actually churn (recall). Using SHAP explainability, we confirmed and quantified the three strongest, most business-actionable churn drivers: contract type, customer tenure, and internet/payment method — all levers the business can influence directly through pricing, onboarding, and payment-method incentives.</a:t>
            </a:r>
          </a:p>
          <a:p>
            <a:r>
              <a:rPr sz="1200" dirty="0"/>
              <a:t>This report explains the problem, the approach taken, the findings, and closes with three concrete, prioritized recommendations for how the client can act on these findings, plus directions for further research.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2. Problem Statement &amp; Business Context</a:t>
            </a:r>
          </a:p>
        </p:txBody>
      </p:sp>
      <p:sp>
        <p:nvSpPr>
          <p:cNvPr id="3" name="Content Placeholder 2"/>
          <p:cNvSpPr>
            <a:spLocks noGrp="1"/>
          </p:cNvSpPr>
          <p:nvPr>
            <p:ph idx="1"/>
          </p:nvPr>
        </p:nvSpPr>
        <p:spPr/>
        <p:txBody>
          <a:bodyPr>
            <a:normAutofit/>
          </a:bodyPr>
          <a:lstStyle/>
          <a:p>
            <a:endParaRPr sz="1800" dirty="0"/>
          </a:p>
          <a:p>
            <a:r>
              <a:rPr sz="1800" dirty="0"/>
              <a:t>Acquiring a new subscriber is widely understood to cost significantly more than retaining an existing one, so even a modest reduction in churn has an outsized effect on recurring revenue and customer lifetime value. Today, most retention efforts are reactive: outreach happens after a customer has already requested to cancel, by which point the opportunity to change their mind is limited.</a:t>
            </a:r>
          </a:p>
          <a:p>
            <a:r>
              <a:rPr sz="1800" dirty="0"/>
              <a:t>The business question this project addresses is:</a:t>
            </a:r>
          </a:p>
          <a:p>
            <a:r>
              <a:rPr sz="1800" dirty="0"/>
              <a:t>“Which currently active customers are most likely to churn in the near term, and what is driving that risk for each of them, so the retention team can prioritize and personalize outreach?”</a:t>
            </a:r>
          </a:p>
          <a:p>
            <a:r>
              <a:rPr sz="1800" dirty="0"/>
              <a:t>A useful solution needs to do three things well: (1) rank customers by churn risk with enough accuracy to be worth acting on, (2) surface enough of the true churners (recall) that the campaign isn't missing the customers who matter most, and (3) explain each prediction in plain business terms so retention agents and managers can trust and act on the score rather than treating it as a black box.</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Data Overview</a:t>
            </a:r>
          </a:p>
        </p:txBody>
      </p:sp>
      <p:sp>
        <p:nvSpPr>
          <p:cNvPr id="3" name="Content Placeholder 2"/>
          <p:cNvSpPr>
            <a:spLocks noGrp="1"/>
          </p:cNvSpPr>
          <p:nvPr>
            <p:ph idx="1"/>
          </p:nvPr>
        </p:nvSpPr>
        <p:spPr/>
        <p:txBody>
          <a:bodyPr>
            <a:normAutofit fontScale="55000" lnSpcReduction="20000"/>
          </a:bodyPr>
          <a:lstStyle/>
          <a:p>
            <a:endParaRPr dirty="0"/>
          </a:p>
          <a:p>
            <a:r>
              <a:rPr dirty="0"/>
              <a:t>The dataset used in this project is a synthetically generated, customer-level dataset built to match the structure, scale, and statistical patterns of the widely used IBM/Kaggle “Telco Customer Churn” dataset: 7,000+ customers, a similar ~22-23% churn rate, and the same set of demographic, service, contract, and billing columns. It was generated this way so the project is fully self-contained and reproducible without an external download, while still containing realistic signal and realistic data-quality issues (a handful of missing values, stray whitespace, duplicate rows) for the cleaning stage to address.</a:t>
            </a:r>
          </a:p>
          <a:p>
            <a:r>
              <a:rPr dirty="0"/>
              <a:t>The methodology, code, and conclusions in this report are written generically and apply directly to the real IBM Telco Customer Churn dataset, or to any similar subscription-churn dataset with comparable fields, without modification.</a:t>
            </a:r>
          </a:p>
          <a:p>
            <a:r>
              <a:rPr dirty="0"/>
              <a:t>Fields included</a:t>
            </a:r>
          </a:p>
          <a:p>
            <a:r>
              <a:rPr dirty="0"/>
              <a:t>Demographics: gender, senior citizen status, partner, dependents</a:t>
            </a:r>
          </a:p>
          <a:p>
            <a:r>
              <a:rPr dirty="0"/>
              <a:t>Account: tenure (months), contract type, paperless billing, payment method</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4. Methodology</a:t>
            </a:r>
          </a:p>
        </p:txBody>
      </p:sp>
      <p:sp>
        <p:nvSpPr>
          <p:cNvPr id="3" name="Content Placeholder 2"/>
          <p:cNvSpPr>
            <a:spLocks noGrp="1"/>
          </p:cNvSpPr>
          <p:nvPr>
            <p:ph idx="1"/>
          </p:nvPr>
        </p:nvSpPr>
        <p:spPr/>
        <p:txBody>
          <a:bodyPr>
            <a:normAutofit/>
          </a:bodyPr>
          <a:lstStyle/>
          <a:p>
            <a:endParaRPr sz="1600" dirty="0"/>
          </a:p>
          <a:p>
            <a:r>
              <a:rPr sz="1600" dirty="0"/>
              <a:t>The full, executable pipeline lives in the companion notebook, </a:t>
            </a:r>
            <a:r>
              <a:rPr sz="1600" dirty="0" err="1"/>
              <a:t>Capstone_Project.ipynb</a:t>
            </a:r>
            <a:r>
              <a:rPr sz="1600" dirty="0"/>
              <a:t>, organized into the same stages summarized below.</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4.1 Data Cleaning</a:t>
            </a:r>
          </a:p>
        </p:txBody>
      </p:sp>
      <p:sp>
        <p:nvSpPr>
          <p:cNvPr id="3" name="Content Placeholder 2"/>
          <p:cNvSpPr>
            <a:spLocks noGrp="1"/>
          </p:cNvSpPr>
          <p:nvPr>
            <p:ph idx="1"/>
          </p:nvPr>
        </p:nvSpPr>
        <p:spPr/>
        <p:txBody>
          <a:bodyPr>
            <a:normAutofit fontScale="77500" lnSpcReduction="20000"/>
          </a:bodyPr>
          <a:lstStyle/>
          <a:p>
            <a:endParaRPr/>
          </a:p>
          <a:p>
            <a:r>
              <a:t>Removed exact duplicate customer records.</a:t>
            </a:r>
          </a:p>
          <a:p>
            <a:r>
              <a:t>Normalized inconsistent categorical text (stray casing/whitespace, e.g. in the gender field).</a:t>
            </a:r>
          </a:p>
          <a:p>
            <a:r>
              <a:t>Coerced TotalCharges from text to numeric; the resulting missing values corresponded almost entirely to brand-new customers with zero tenure, so these were principled-filled with 0 rather than a column mean/median, which would have overstated their spend.</a:t>
            </a:r>
          </a:p>
          <a:p>
            <a:r>
              <a:t>Ran sanity checks confirming no impossible values remained (e.g., negative tenure, zero/negative charges).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4.2 Exploratory Data Analysis</a:t>
            </a:r>
          </a:p>
        </p:txBody>
      </p:sp>
      <p:sp>
        <p:nvSpPr>
          <p:cNvPr id="3" name="Content Placeholder 2"/>
          <p:cNvSpPr>
            <a:spLocks noGrp="1"/>
          </p:cNvSpPr>
          <p:nvPr>
            <p:ph idx="1"/>
          </p:nvPr>
        </p:nvSpPr>
        <p:spPr/>
        <p:txBody>
          <a:bodyPr>
            <a:normAutofit/>
          </a:bodyPr>
          <a:lstStyle/>
          <a:p>
            <a:endParaRPr sz="1800" dirty="0"/>
          </a:p>
          <a:p>
            <a:r>
              <a:rPr sz="1800" dirty="0"/>
              <a:t>We examined the target balance, the distribution of numeric fields split by churn outcome, and churn rate broken out by the key categorical fields identified as likely drivers.</a:t>
            </a:r>
          </a:p>
          <a:p>
            <a:r>
              <a:rPr sz="1800" dirty="0"/>
              <a:t>Figure 2. Churn rate by contract type — month-to-month customers churn at a far higher rate than one- or two-year contract holders.</a:t>
            </a:r>
          </a:p>
          <a:p>
            <a:r>
              <a:rPr sz="1800" dirty="0"/>
              <a:t>Figure 3. Churn rate across internet service, payment method, and service add-ons.</a:t>
            </a:r>
          </a:p>
          <a:p>
            <a:r>
              <a:rPr sz="1800" dirty="0"/>
              <a:t>Figure 4. Correlation among numeric fields, including the target.</a:t>
            </a:r>
          </a:p>
          <a:p>
            <a:r>
              <a:rPr sz="1800" dirty="0"/>
              <a:t>EDA confirmed several expected patterns — new customers and month-to-month contract holders churn more, while add-on services like tech support and online security are associated with lower churn — and also surfaced the strong correlation between tenure, monthly charges, and total charges, which informed the feature engineering step below.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4.3 Feature Engineering</a:t>
            </a:r>
          </a:p>
        </p:txBody>
      </p:sp>
      <p:sp>
        <p:nvSpPr>
          <p:cNvPr id="3" name="Content Placeholder 2"/>
          <p:cNvSpPr>
            <a:spLocks noGrp="1"/>
          </p:cNvSpPr>
          <p:nvPr>
            <p:ph idx="1"/>
          </p:nvPr>
        </p:nvSpPr>
        <p:spPr/>
        <p:txBody>
          <a:bodyPr vert="horz" lIns="91440" tIns="45720" rIns="91440" bIns="45720" rtlCol="0">
            <a:normAutofit/>
          </a:bodyPr>
          <a:lstStyle/>
          <a:p>
            <a:endParaRPr sz="1800" dirty="0"/>
          </a:p>
          <a:p>
            <a:r>
              <a:rPr sz="1800" dirty="0"/>
              <a:t>On top of the raw fields, we derived a small set of business-meaningful features:</a:t>
            </a:r>
          </a:p>
          <a:p>
            <a:r>
              <a:rPr sz="1800" dirty="0" err="1"/>
              <a:t>NumAddOnServices</a:t>
            </a:r>
            <a:r>
              <a:rPr sz="1800" dirty="0"/>
              <a:t> — count of subscribed add-ons (security, backup, protection, support, streaming), a proxy for engagement/stickiness.</a:t>
            </a:r>
          </a:p>
          <a:p>
            <a:r>
              <a:rPr sz="1800" dirty="0" err="1"/>
              <a:t>AvgMonthlySpend</a:t>
            </a:r>
            <a:r>
              <a:rPr sz="1800" dirty="0"/>
              <a:t> — realized average monthly spend (total charges / tenure), capturing pricing pattern independent of raw tenure.</a:t>
            </a:r>
          </a:p>
          <a:p>
            <a:r>
              <a:rPr sz="1800" dirty="0" err="1"/>
              <a:t>TenureBucket</a:t>
            </a:r>
            <a:r>
              <a:rPr sz="1800" dirty="0"/>
              <a:t> — tenure grouped into five bands, capturing the well-documented non-linear “new customer” risk window.</a:t>
            </a:r>
          </a:p>
          <a:p>
            <a:r>
              <a:rPr sz="1800" dirty="0" err="1"/>
              <a:t>HasStreaming</a:t>
            </a:r>
            <a:r>
              <a:rPr sz="1800" dirty="0"/>
              <a:t>, </a:t>
            </a:r>
            <a:r>
              <a:rPr sz="1800" dirty="0" err="1"/>
              <a:t>IsElectronicCheck</a:t>
            </a:r>
            <a:r>
              <a:rPr sz="1800" dirty="0"/>
              <a:t>, </a:t>
            </a:r>
            <a:r>
              <a:rPr sz="1800" dirty="0" err="1"/>
              <a:t>IsMonthToMonth</a:t>
            </a:r>
            <a:r>
              <a:rPr sz="1800" dirty="0"/>
              <a:t> — explicit binary flags for the highest-risk segments identified in EDA.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4.4 Modelling &amp; Evaluation</a:t>
            </a:r>
          </a:p>
        </p:txBody>
      </p:sp>
      <p:sp>
        <p:nvSpPr>
          <p:cNvPr id="3" name="Content Placeholder 2"/>
          <p:cNvSpPr>
            <a:spLocks noGrp="1"/>
          </p:cNvSpPr>
          <p:nvPr>
            <p:ph idx="1"/>
          </p:nvPr>
        </p:nvSpPr>
        <p:spPr/>
        <p:txBody>
          <a:bodyPr>
            <a:normAutofit/>
          </a:bodyPr>
          <a:lstStyle/>
          <a:p>
            <a:endParaRPr sz="1800" dirty="0"/>
          </a:p>
          <a:p>
            <a:r>
              <a:rPr sz="1800" dirty="0"/>
              <a:t>Three candidate models were compared using 5-fold stratified cross-validation on the training set, scored on ROC-AUC (appropriate given the ~23% class imbalance):</a:t>
            </a:r>
          </a:p>
          <a:p>
            <a:r>
              <a:rPr sz="1800" dirty="0"/>
              <a:t>Figure 5. Cross-validated ROC-AUC by candidate model.</a:t>
            </a:r>
          </a:p>
          <a:p>
            <a:r>
              <a:rPr sz="1800" dirty="0"/>
              <a:t>Logistic Regression achieved the highest mean cross-validated ROC-AUC and was selected for hyperparameter tuning via </a:t>
            </a:r>
            <a:r>
              <a:rPr sz="1800" dirty="0" err="1"/>
              <a:t>RandomizedSearchCV</a:t>
            </a:r>
            <a:r>
              <a:rPr sz="1800" dirty="0"/>
              <a:t>. This outcome is consistent with how churn risk behaves in this data: it is driven by a largely additive combination of factors rather than strong non-linear interactions, a setting where a well-regularized linear model can match or beat tree ensembles while remaining much more directly interpretable.</a:t>
            </a:r>
          </a:p>
          <a:p>
            <a:r>
              <a:rPr sz="1800" dirty="0"/>
              <a:t>The tuned model was evaluated once on a held-out test set (20% of customers, stratified, never used in training or tuning):</a:t>
            </a:r>
          </a:p>
          <a:p>
            <a:r>
              <a:rPr sz="1800" dirty="0"/>
              <a:t>Figure 6. Confusion matrix, ROC curve, and precision-recall curve on the held-out test set.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4.5 Explainability</a:t>
            </a:r>
          </a:p>
        </p:txBody>
      </p:sp>
      <p:sp>
        <p:nvSpPr>
          <p:cNvPr id="3" name="Content Placeholder 2"/>
          <p:cNvSpPr>
            <a:spLocks noGrp="1"/>
          </p:cNvSpPr>
          <p:nvPr>
            <p:ph idx="1"/>
          </p:nvPr>
        </p:nvSpPr>
        <p:spPr/>
        <p:txBody>
          <a:bodyPr vert="horz" lIns="91440" tIns="45720" rIns="91440" bIns="45720" rtlCol="0">
            <a:normAutofit/>
          </a:bodyPr>
          <a:lstStyle/>
          <a:p>
            <a:endParaRPr sz="1800"/>
          </a:p>
          <a:p>
            <a:r>
              <a:rPr sz="1800"/>
              <a:t>Built-in coefficient magnitudes show which features matter on average, but SHAP (SHapley Additive exPlanations) values additionally show the direction of each feature's effect and allow every individual prediction to be explained on its own, which matters for a customer-facing retention use case.</a:t>
            </a:r>
          </a:p>
          <a:p>
            <a:r>
              <a:rPr sz="1800"/>
              <a:t>Figure 7. SHAP summary plot — each point is one customer; color shows the feature's value, position shows its effect on the predicted churn probability.</a:t>
            </a:r>
          </a:p>
          <a:p>
            <a:r>
              <a:rPr sz="1800"/>
              <a:t>Figure 8. Example local explanation for one individual high-risk customer, showing which factors pushed their score up or down.</a:t>
            </a:r>
          </a:p>
          <a:p>
            <a:r>
              <a:rPr sz="1800"/>
              <a:t>This means every flagged customer can be paired with a one-line, plain-language reason (e.g. “flagged mainly due to a month-to-month contract and short tenure”), giving retention agents a defensible, specific talking point rather than an unexplained risk score.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 Key Findings</a:t>
            </a:r>
          </a:p>
        </p:txBody>
      </p:sp>
      <p:sp>
        <p:nvSpPr>
          <p:cNvPr id="3" name="Content Placeholder 2"/>
          <p:cNvSpPr>
            <a:spLocks noGrp="1"/>
          </p:cNvSpPr>
          <p:nvPr>
            <p:ph idx="1"/>
          </p:nvPr>
        </p:nvSpPr>
        <p:spPr/>
        <p:txBody>
          <a:bodyPr vert="horz" lIns="91440" tIns="45720" rIns="91440" bIns="45720" rtlCol="0">
            <a:normAutofit/>
          </a:bodyPr>
          <a:lstStyle/>
          <a:p>
            <a:endParaRPr sz="1800" dirty="0"/>
          </a:p>
          <a:p>
            <a:r>
              <a:rPr sz="1800" dirty="0"/>
              <a:t>The model separates churners from non-churners well above chance (ROC-AUC 0.729) and, at the default threshold, correctly identifies 66% of customers who go on to churn.</a:t>
            </a:r>
          </a:p>
          <a:p>
            <a:r>
              <a:rPr sz="1800" dirty="0"/>
              <a:t>Contract type is the single strongest, most actionable driver — month-to-month customers churn dramatically more than one- or two-year contract holders.</a:t>
            </a:r>
          </a:p>
          <a:p>
            <a:r>
              <a:rPr sz="1800" dirty="0"/>
              <a:t>Tenure is strongly protective — churn risk is highest in the first year and falls steadily afterward.</a:t>
            </a:r>
          </a:p>
          <a:p>
            <a:r>
              <a:rPr sz="1800" dirty="0"/>
              <a:t>Pricing and internet service matter — higher monthly charges and fiber-optic internet (typically the highest-priced tier) are both associated with elevated churn risk, suggesting price sensitivity or service-quality perception issues in that segment.</a:t>
            </a:r>
          </a:p>
          <a:p>
            <a:r>
              <a:rPr sz="1800" dirty="0"/>
              <a:t>Support add-ons reduce risk — customers with tech support and online security subscriptions churn less, even after controlling for other factors.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6. Recommendations for the Client</a:t>
            </a:r>
          </a:p>
        </p:txBody>
      </p:sp>
      <p:sp>
        <p:nvSpPr>
          <p:cNvPr id="3" name="Content Placeholder 2"/>
          <p:cNvSpPr>
            <a:spLocks noGrp="1"/>
          </p:cNvSpPr>
          <p:nvPr>
            <p:ph idx="1"/>
          </p:nvPr>
        </p:nvSpPr>
        <p:spPr/>
        <p:txBody>
          <a:bodyPr>
            <a:noAutofit/>
          </a:bodyPr>
          <a:lstStyle/>
          <a:p>
            <a:endParaRPr sz="1600"/>
          </a:p>
          <a:p>
            <a:r>
              <a:rPr sz="1600"/>
              <a:t>The following three recommendations are ordered by expected impact-to-effort ratio and are directly supported by the model's coefficients and SHAP explanations above.</a:t>
            </a:r>
          </a:p>
          <a:p>
            <a:r>
              <a:rPr sz="1600"/>
              <a:t>Recommendation 1 — Launch a contract-conversion campaign for month-to-month customers</a:t>
            </a:r>
          </a:p>
          <a:p>
            <a:r>
              <a:rPr sz="1600"/>
              <a:t>Contract type is the strongest single driver of churn risk in this analysis. Use the model to identify month-to-month customers with high predicted churn probability and target them with an incentive to move to a one- or two-year contract (e.g., a modest discount or a service credit). Because this segment already contains the largest share of at-risk revenue, even a modest conversion rate should produce a measurable reduction in churn.</a:t>
            </a:r>
          </a:p>
          <a:p>
            <a:r>
              <a:rPr sz="1600"/>
              <a:t>Recommendation 2 — Build a first-90-days onboarding and check-in program</a:t>
            </a:r>
          </a:p>
          <a:p>
            <a:r>
              <a:rPr sz="1600"/>
              <a:t>Churn risk is highest in the first year and declines sharply with tenure. Use predicted risk scores to flag new customers in their first 90 days who show early warning signs (e.g., month-to-month contract, no support add-ons, electronic check payment) and route them into a proactive onboarding sequence — a welcome check-in call, a walkthrough of available support features, or a limited-time bundle offer — before they reach a natural cancellation decision point.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7. Further Research</a:t>
            </a:r>
          </a:p>
        </p:txBody>
      </p:sp>
      <p:sp>
        <p:nvSpPr>
          <p:cNvPr id="3" name="Content Placeholder 2"/>
          <p:cNvSpPr>
            <a:spLocks noGrp="1"/>
          </p:cNvSpPr>
          <p:nvPr>
            <p:ph idx="1"/>
          </p:nvPr>
        </p:nvSpPr>
        <p:spPr/>
        <p:txBody>
          <a:bodyPr>
            <a:noAutofit/>
          </a:bodyPr>
          <a:lstStyle/>
          <a:p>
            <a:endParaRPr sz="1600" dirty="0"/>
          </a:p>
          <a:p>
            <a:r>
              <a:rPr sz="1600" dirty="0"/>
              <a:t>Validate on the real production dataset: re-run this pipeline unchanged against the client's actual historical customer data (the code was written generically for this purpose) to confirm the drivers and performance transfer from this representative synthetic dataset.</a:t>
            </a:r>
          </a:p>
          <a:p>
            <a:r>
              <a:rPr sz="1600" dirty="0"/>
              <a:t>Add a time dimension: this project uses a single snapshot per customer. A panel/longitudinal dataset (monthly account state) would allow survival-analysis or time-to-churn modelling, which could predict not just whether but roughly when a customer is likely to churn.</a:t>
            </a:r>
          </a:p>
          <a:p>
            <a:r>
              <a:rPr sz="1600" dirty="0"/>
              <a:t>Incorporate behavioral and support data: call-center contact history, complaint/ticket counts, app or website engagement, and Net Promoter Score / satisfaction survey results would likely add substantial predictive signal beyond the account and billing fields used here.</a:t>
            </a:r>
          </a:p>
          <a:p>
            <a:r>
              <a:rPr sz="1600" dirty="0"/>
              <a:t>Move from ROC-AUC to a cost-sensitive threshold: work with the client to estimate the dollar cost of a false positive (a wasted retention offer) versus a false negative (a lost customer), and choose the operating threshold — and potentially a cost-sensitive loss function during training — that maximizes expected retained revenue rather than a generic classification metric.</a:t>
            </a:r>
          </a:p>
          <a:p>
            <a:r>
              <a:rPr sz="1600" dirty="0"/>
              <a:t>Test uplift modelling: rather than only predicting who will churn, model who is most likely to respond positively to a specific retention offer (uplift/causal modelling), which can improve campaign ROI beyond risk-ranking alone.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8. Limitations</a:t>
            </a:r>
          </a:p>
        </p:txBody>
      </p:sp>
      <p:sp>
        <p:nvSpPr>
          <p:cNvPr id="3" name="Content Placeholder 2"/>
          <p:cNvSpPr>
            <a:spLocks noGrp="1"/>
          </p:cNvSpPr>
          <p:nvPr>
            <p:ph idx="1"/>
          </p:nvPr>
        </p:nvSpPr>
        <p:spPr/>
        <p:txBody>
          <a:bodyPr>
            <a:normAutofit/>
          </a:bodyPr>
          <a:lstStyle/>
          <a:p>
            <a:endParaRPr sz="1800"/>
          </a:p>
          <a:p>
            <a:r>
              <a:rPr sz="1800"/>
              <a:t>This analysis is trained and evaluated on a synthetically generated dataset designed to mirror a real telecom churn dataset; absolute performance numbers should be treated as illustrative until validated on the client's real data.</a:t>
            </a:r>
          </a:p>
          <a:p>
            <a:r>
              <a:rPr sz="1800"/>
              <a:t>The dataset is a single snapshot in time; it cannot capture within-customer changes over time or seasonality effects.</a:t>
            </a:r>
          </a:p>
          <a:p>
            <a:r>
              <a:rPr sz="1800"/>
              <a:t>Precision on the churn class (36%) is modest by design (class-balanced training favors recall); this is an appropriate trade-off for a low-cost-outreach retention use case but should be revisited if the client's outreach channel is expensive per contact.</a:t>
            </a:r>
          </a:p>
          <a:p>
            <a:r>
              <a:rPr sz="1800"/>
              <a:t>Correlational drivers identified here (e.g., contract type, payment method) are strong predictive signals but do not by themselves prove causation; the A/B testing approach recommended in Section 6 is intended to establish causal impact before scaling any intervention.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9. Conclusion</a:t>
            </a:r>
          </a:p>
        </p:txBody>
      </p:sp>
      <p:sp>
        <p:nvSpPr>
          <p:cNvPr id="3" name="Content Placeholder 2"/>
          <p:cNvSpPr>
            <a:spLocks noGrp="1"/>
          </p:cNvSpPr>
          <p:nvPr>
            <p:ph idx="1"/>
          </p:nvPr>
        </p:nvSpPr>
        <p:spPr/>
        <p:txBody>
          <a:bodyPr>
            <a:normAutofit/>
          </a:bodyPr>
          <a:lstStyle/>
          <a:p>
            <a:endParaRPr sz="1800" dirty="0"/>
          </a:p>
          <a:p>
            <a:r>
              <a:rPr sz="1800" dirty="0"/>
              <a:t>This project delivers a complete, reproducible churn-prediction pipeline — from raw data through a tuned, evaluated, and explainable model — along with concrete, prioritized actions the client's retention team can take immediately. The strongest and most actionable finding is that contract structure, early-tenure engagement, and a small number of low-cost service and payment nudges account for most of the identifiable churn risk in this dataset, giving the client a clear, high-leverage starting point for a data-driven retention program.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5</TotalTime>
  <Words>2099</Words>
  <Application>Microsoft Office PowerPoint</Application>
  <PresentationFormat>On-screen Show (4:3)</PresentationFormat>
  <Paragraphs>85</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1. Executive Summary</vt:lpstr>
      <vt:lpstr>2. Problem Statement &amp; Business Context</vt:lpstr>
      <vt:lpstr>3. Data Overview</vt:lpstr>
      <vt:lpstr>4. Methodology</vt:lpstr>
      <vt:lpstr>4.1 Data Cleaning</vt:lpstr>
      <vt:lpstr>4.2 Exploratory Data Analysis</vt:lpstr>
      <vt:lpstr>4.3 Feature Engineering</vt:lpstr>
      <vt:lpstr>4.4 Modelling &amp; Evaluation</vt:lpstr>
      <vt:lpstr>4.5 Explainability</vt:lpstr>
      <vt:lpstr>5. Key Findings</vt:lpstr>
      <vt:lpstr>6. Recommendations for the Client</vt:lpstr>
      <vt:lpstr>7. Further Research</vt:lpstr>
      <vt:lpstr>8. Limitations</vt:lpstr>
      <vt:lpstr>9. 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Mishra, Ritu, VBAVACO</dc:creator>
  <cp:keywords/>
  <dc:description>generated using python-pptx</dc:description>
  <cp:lastModifiedBy>Mishra, Ritu, VBAVACO</cp:lastModifiedBy>
  <cp:revision>1</cp:revision>
  <dcterms:created xsi:type="dcterms:W3CDTF">2026-08-02T01:58:54Z</dcterms:created>
  <dcterms:modified xsi:type="dcterms:W3CDTF">2026-08-02T02:03:46Z</dcterms:modified>
  <cp:category/>
</cp:coreProperties>
</file>